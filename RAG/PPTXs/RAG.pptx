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85"/>
    <p:restoredTop sz="94658"/>
  </p:normalViewPr>
  <p:slideViewPr>
    <p:cSldViewPr snapToGrid="0" snapToObjects="1">
      <p:cViewPr varScale="1">
        <p:scale>
          <a:sx n="89" d="100"/>
          <a:sy n="89" d="100"/>
        </p:scale>
        <p:origin x="168" y="8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2011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BEAFE"/>
                </a:solidFill>
                <a:latin typeface="Aptos"/>
              </a:rPr>
              <a:t>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3536609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 dirty="0">
                <a:solidFill>
                  <a:srgbClr val="FFFFFF"/>
                </a:solidFill>
                <a:latin typeface="Aptos"/>
              </a:rPr>
              <a:t>Embeddings,</a:t>
            </a:r>
            <a:br>
              <a:rPr dirty="0"/>
            </a:br>
            <a:r>
              <a:rPr lang="es-419" dirty="0">
                <a:solidFill>
                  <a:srgbClr val="FFFF00"/>
                </a:solidFill>
              </a:rPr>
              <a:t>B</a:t>
            </a:r>
            <a:r>
              <a:rPr dirty="0" err="1">
                <a:solidFill>
                  <a:srgbClr val="FFFF00"/>
                </a:solidFill>
              </a:rPr>
              <a:t>ases</a:t>
            </a:r>
            <a:r>
              <a:rPr lang="es-419" dirty="0">
                <a:solidFill>
                  <a:srgbClr val="FFFF00"/>
                </a:solidFill>
              </a:rPr>
              <a:t> de datos</a:t>
            </a:r>
            <a:r>
              <a:rPr dirty="0">
                <a:solidFill>
                  <a:srgbClr val="FFFF00"/>
                </a:solidFill>
              </a:rPr>
              <a:t> </a:t>
            </a:r>
            <a:r>
              <a:rPr dirty="0" err="1">
                <a:solidFill>
                  <a:srgbClr val="FFFF00"/>
                </a:solidFill>
              </a:rPr>
              <a:t>vectoriales</a:t>
            </a:r>
            <a:r>
              <a:rPr dirty="0">
                <a:solidFill>
                  <a:srgbClr val="FFFF00"/>
                </a:solidFill>
              </a:rPr>
              <a:t> y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7223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0" dirty="0" err="1">
                <a:solidFill>
                  <a:srgbClr val="DBEAFE"/>
                </a:solidFill>
                <a:latin typeface="Aptos"/>
              </a:rPr>
              <a:t>Cómo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convertir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significado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en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vectores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,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buscar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por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similitud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endParaRPr lang="es-419" sz="2100" b="0" dirty="0">
              <a:solidFill>
                <a:srgbClr val="DBEAFE"/>
              </a:solidFill>
              <a:latin typeface="Aptos"/>
            </a:endParaRPr>
          </a:p>
          <a:p>
            <a:r>
              <a:rPr sz="2100" b="0" dirty="0">
                <a:solidFill>
                  <a:srgbClr val="DBEAFE"/>
                </a:solidFill>
                <a:latin typeface="Aptos"/>
              </a:rPr>
              <a:t>y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construir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sistemas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que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responden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 con </a:t>
            </a:r>
            <a:r>
              <a:rPr sz="2100" b="0" dirty="0" err="1">
                <a:solidFill>
                  <a:srgbClr val="DBEAFE"/>
                </a:solidFill>
                <a:latin typeface="Aptos"/>
              </a:rPr>
              <a:t>contexto</a:t>
            </a:r>
            <a:r>
              <a:rPr sz="2100" b="0" dirty="0">
                <a:solidFill>
                  <a:srgbClr val="DBEAFE"/>
                </a:solidFill>
                <a:latin typeface="Apto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263640"/>
            <a:ext cx="10881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0">
                <a:solidFill>
                  <a:srgbClr val="DBEAFE"/>
                </a:solidFill>
                <a:latin typeface="Aptos"/>
              </a:rPr>
              <a:t>Lecture deck |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El problema: los LLMs no lo saben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La generación sola puede sonar correcta aunque esté desactualizada o inventada.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383280" cy="356616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3566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5544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Solo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47672"/>
            <a:ext cx="3063240" cy="290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Pregunta → modelo → respuesta</a:t>
            </a:r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Riesgo: depende de sus pesos, fecha de entrenamiento y memoria paramétrica.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83280" cy="35661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5544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Con búsqueda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47672"/>
            <a:ext cx="3063240" cy="290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Pregunta → buscar documentos → modelo → respuesta</a:t>
            </a:r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El modelo recibe evidencia fresca y específica.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383280" cy="35661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3566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5544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47672"/>
            <a:ext cx="3063240" cy="290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Retrieval-Augmented Generation</a:t>
            </a:r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Generar con contexto recuperado, no solo con conocimiento interno.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424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12233C"/>
                </a:solidFill>
                <a:latin typeface="Aptos"/>
              </a:rPr>
              <a:t>RAG no reemplaza al LLM: le da una libreta abierta en el momento de responder.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5E7591B-8B3C-B5CE-282E-6FC876495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54" y="384048"/>
            <a:ext cx="11505385" cy="63882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De palabras a significado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Embeddings: una representación numérica que conserva relaciones semánticas.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200400" cy="1143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37160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64792"/>
            <a:ext cx="288036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"perro", "gato", "automóvil"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77639" y="1783080"/>
            <a:ext cx="731521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00600" y="1234440"/>
            <a:ext cx="2788920" cy="1143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00600" y="123444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1768" y="13716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Modelo de 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764792"/>
            <a:ext cx="246888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Convierte texto en un vector.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1783080"/>
            <a:ext cx="7315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58200" y="1234440"/>
            <a:ext cx="2926080" cy="1143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58200" y="1234440"/>
            <a:ext cx="7315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59368" y="137160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Vector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1764792"/>
            <a:ext cx="2606040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[0.12, -0.48, 0.77, ...]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7180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Cada dimensión no suele tener una interpretación humana directa.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La geometría importa: textos con significado parecido quedan cerca.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Aptos"/>
              </a:defRPr>
            </a:pPr>
            <a:r>
              <a:t>El mismo mecanismo funciona con frases, párrafos, imágenes o audio.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926080"/>
            <a:ext cx="4343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29400" y="2926080"/>
            <a:ext cx="73152" cy="21945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30568" y="306324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Analogía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3456432"/>
            <a:ext cx="4023360" cy="1536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Un embedding es como una coordenada en un mapa: no describe la ciudad con palabras, pero permite medir qué tan cerca está de otras ciudades.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Un espacio vectorial semántico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Ejemplo 2D simplificado: en la práctica hay cientos o miles de dimensiones.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417320"/>
            <a:ext cx="5669280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468880" y="2468880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0" y="2395728"/>
            <a:ext cx="7315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perro</a:t>
            </a:r>
          </a:p>
        </p:txBody>
      </p:sp>
      <p:sp>
        <p:nvSpPr>
          <p:cNvPr id="9" name="Oval 8"/>
          <p:cNvSpPr/>
          <p:nvPr/>
        </p:nvSpPr>
        <p:spPr>
          <a:xfrm>
            <a:off x="2865729" y="2763316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57169" y="2690164"/>
            <a:ext cx="7315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gato</a:t>
            </a:r>
          </a:p>
        </p:txBody>
      </p:sp>
      <p:sp>
        <p:nvSpPr>
          <p:cNvPr id="11" name="Oval 10"/>
          <p:cNvSpPr/>
          <p:nvPr/>
        </p:nvSpPr>
        <p:spPr>
          <a:xfrm>
            <a:off x="3432657" y="2258568"/>
            <a:ext cx="128016" cy="12801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4097" y="2185416"/>
            <a:ext cx="7315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mascota</a:t>
            </a:r>
          </a:p>
        </p:txBody>
      </p:sp>
      <p:sp>
        <p:nvSpPr>
          <p:cNvPr id="13" name="Oval 12"/>
          <p:cNvSpPr/>
          <p:nvPr/>
        </p:nvSpPr>
        <p:spPr>
          <a:xfrm>
            <a:off x="5190134" y="4277563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81574" y="4204411"/>
            <a:ext cx="7315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auto</a:t>
            </a:r>
          </a:p>
        </p:txBody>
      </p:sp>
      <p:sp>
        <p:nvSpPr>
          <p:cNvPr id="15" name="Oval 14"/>
          <p:cNvSpPr/>
          <p:nvPr/>
        </p:nvSpPr>
        <p:spPr>
          <a:xfrm>
            <a:off x="5586984" y="3856939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78424" y="3783787"/>
            <a:ext cx="7315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camión</a:t>
            </a:r>
          </a:p>
        </p:txBody>
      </p:sp>
      <p:sp>
        <p:nvSpPr>
          <p:cNvPr id="17" name="Oval 16"/>
          <p:cNvSpPr/>
          <p:nvPr/>
        </p:nvSpPr>
        <p:spPr>
          <a:xfrm>
            <a:off x="4623206" y="4445812"/>
            <a:ext cx="128016" cy="12801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14646" y="4372660"/>
            <a:ext cx="7315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motor</a:t>
            </a:r>
          </a:p>
        </p:txBody>
      </p:sp>
      <p:sp>
        <p:nvSpPr>
          <p:cNvPr id="19" name="Oval 18"/>
          <p:cNvSpPr/>
          <p:nvPr/>
        </p:nvSpPr>
        <p:spPr>
          <a:xfrm>
            <a:off x="2185416" y="457200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76856" y="4498848"/>
            <a:ext cx="7315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sandía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760720"/>
            <a:ext cx="56692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2233C"/>
                </a:solidFill>
                <a:latin typeface="Aptos"/>
              </a:rPr>
              <a:t>Cerca = similar en uso y significado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463040"/>
            <a:ext cx="3840480" cy="3931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0" y="1463040"/>
            <a:ext cx="73152" cy="3931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16368" y="1600200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Lectura del diagrama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1993392"/>
            <a:ext cx="3520440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El modelo aprendió patrones de coocurrencia y contexto.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No sabe que un perro es un perro como un humano; ubica textos por regularidades estadísticas útiles.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La búsqueda semántica aprovecha esas distancias.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Similitud: producto punto y coseno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La consulta recupera los documentos cuyos vectores apuntan en una dirección parecida.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337560" cy="12344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46304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Consulta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56232"/>
            <a:ext cx="301752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q = embedding("¿cómo instalo git?")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43200"/>
            <a:ext cx="3337560" cy="1234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2743200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28803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Documento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73552"/>
            <a:ext cx="301752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d = embedding("instalación de git paso a paso")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43400" y="1993392"/>
            <a:ext cx="11430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23560" y="1645920"/>
            <a:ext cx="5349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23560" y="1645920"/>
            <a:ext cx="73152" cy="1828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24728" y="17830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2233C"/>
                </a:solidFill>
                <a:latin typeface="Aptos"/>
              </a:rPr>
              <a:t>cos(q, 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2176272"/>
            <a:ext cx="502920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475569"/>
                </a:solidFill>
                <a:latin typeface="Aptos"/>
              </a:defRPr>
            </a:pPr>
            <a:r>
              <a:t>cos(q,d) = (q · d) / (||q|| ||d||)</a:t>
            </a:r>
          </a:p>
          <a:p>
            <a:pPr>
              <a:spcAft>
                <a:spcPts val="300"/>
              </a:spcAft>
              <a:defRPr sz="16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600">
                <a:solidFill>
                  <a:srgbClr val="475569"/>
                </a:solidFill>
                <a:latin typeface="Aptos"/>
              </a:defRPr>
            </a:pPr>
            <a:r>
              <a:t>Cercano a 1: muy similar</a:t>
            </a:r>
          </a:p>
          <a:p>
            <a:pPr>
              <a:spcAft>
                <a:spcPts val="300"/>
              </a:spcAft>
              <a:defRPr sz="1600">
                <a:solidFill>
                  <a:srgbClr val="475569"/>
                </a:solidFill>
                <a:latin typeface="Aptos"/>
              </a:defRPr>
            </a:pPr>
            <a:r>
              <a:t>Cercano a 0: poco relacionado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Coseno ignora la longitud y se enfoca en la dirección.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En muchos sistemas también se usa producto punto o distancia euclidiana, según el modelo y el índice.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Embeddings no son mágicos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Capturan patrones útiles, pero heredan límites del modelo y de los datos.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4983480" cy="160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731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46304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Granularidad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56232"/>
            <a:ext cx="466344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Una frase, un párrafo y un documento completo pueden producir vectores con distinto nivel de detalle.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325880"/>
            <a:ext cx="4983480" cy="16002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325880"/>
            <a:ext cx="7315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7" y="146304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Dominio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1856232"/>
            <a:ext cx="466344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Un embedding general puede fallar con jerga médica, legal, técnica o interna.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74720"/>
            <a:ext cx="4983480" cy="160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474720"/>
            <a:ext cx="73152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361188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Idioma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005072"/>
            <a:ext cx="466344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Modelos multilingües ayudan, pero los datos y la mezcla de idiomas importan.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474720"/>
            <a:ext cx="4983480" cy="160020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3474720"/>
            <a:ext cx="73152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7" y="361188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Ambigüedad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4005072"/>
            <a:ext cx="4663440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"Python" puede ser lenguaje, serpiente o curso. El contexto resuelve parte del problema.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Preparar documentos: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Antes de indexar, se divide el conocimiento en fragmentos recuperables.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468880" cy="10515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46304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Documento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56232"/>
            <a:ext cx="214884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Manual completo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PDF / web / notas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1856231"/>
            <a:ext cx="7315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60520" y="1143000"/>
            <a:ext cx="22860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60520" y="114300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61688" y="128016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chunk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673352"/>
            <a:ext cx="196596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200-800 tokens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+ metadatos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286000"/>
            <a:ext cx="22860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60520" y="228600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61688" y="242316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chunk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816352"/>
            <a:ext cx="196596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200-800 tokens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+ metadatos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429000"/>
            <a:ext cx="2286000" cy="7772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60520" y="3429000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61688" y="3566160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chunk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3959352"/>
            <a:ext cx="1965960" cy="118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200-800 tokens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+ metadatos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29400" y="1856231"/>
            <a:ext cx="7772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43800" y="1325880"/>
            <a:ext cx="3383280" cy="1051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543800" y="1325880"/>
            <a:ext cx="73152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44968" y="146304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Embeddings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8" y="1856232"/>
            <a:ext cx="306324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Un vector por chunk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805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Chunks muy grandes: recuperan demasiado ruido.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Chunks muy pequeños: pierden contexto necesario.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Aptos"/>
              </a:defRPr>
            </a:pPr>
            <a:r>
              <a:t>Overlap ayuda cuando la respuesta cruza fronteras entre fragmentos.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¿Qué guarda una base vectorial?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Una colección une vectores, texto original y metadatos.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2880360" cy="4389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23444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37160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764792"/>
            <a:ext cx="2560320" cy="3730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[0.031, -0.22, ...]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Sirve para búsqueda aproximada por similitud.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234440"/>
            <a:ext cx="2880360" cy="4389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77639" y="1234440"/>
            <a:ext cx="73152" cy="4389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78807" y="137160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Payload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7" y="1764792"/>
            <a:ext cx="2560320" cy="3730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Texto del chunk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Título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URL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Página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Fecha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Permisos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1234440"/>
            <a:ext cx="3749039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78040" y="1234440"/>
            <a:ext cx="73152" cy="43891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79208" y="1371600"/>
            <a:ext cx="34289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Índice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9208" y="1764792"/>
            <a:ext cx="3428999" cy="3730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Estructura especializada para evitar comparar contra todos los vectores uno por uno.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Ejemplos: HNSW, IVF, PQ.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Búsqueda k-NN y ANN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La base devuelve los k vecinos más cercanos a la consulta.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468880" cy="914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46304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C"/>
                </a:solidFill>
                <a:latin typeface="Aptos"/>
              </a:rPr>
              <a:t>1. Embed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5623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Pregunta → q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1783080"/>
            <a:ext cx="5486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77639" y="1325880"/>
            <a:ext cx="2468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977639" y="1325880"/>
            <a:ext cx="73152" cy="914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78807" y="1463040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C"/>
                </a:solidFill>
                <a:latin typeface="Aptos"/>
              </a:rPr>
              <a:t>2. Buscar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7" y="185623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nearest_neighbors(q, k)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37960" y="1783080"/>
            <a:ext cx="5486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78040" y="1325880"/>
            <a:ext cx="361188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78040" y="1325880"/>
            <a:ext cx="73152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9208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C"/>
                </a:solidFill>
                <a:latin typeface="Aptos"/>
              </a:rPr>
              <a:t>3. Resultados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856232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chunks + scores + metadatos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063240"/>
            <a:ext cx="4800600" cy="21488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3063240"/>
            <a:ext cx="73152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320040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Exacto: k-NN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593592"/>
            <a:ext cx="4480560" cy="1490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Compara contra todos los vectores.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Simple de entender, caro a gran escala.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063240"/>
            <a:ext cx="4800600" cy="2148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3063240"/>
            <a:ext cx="73152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8" y="320040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Aproximado: ANN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3593592"/>
            <a:ext cx="4480560" cy="1490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Usa un índice para encontrar vecinos casi óptimos mucho más rápido.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La calidad se ajusta con parámetros del índice.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Filtros + búsqueda semántica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En producción, la similitud rara vez trabaja sola.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2926080" cy="4023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325880"/>
            <a:ext cx="73152" cy="4023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46304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Pregunta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56232"/>
            <a:ext cx="2606040" cy="3364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¿Cuál es la política de reembolsos para clientes enterprise?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" y="3291840"/>
            <a:ext cx="7315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54880" y="1325880"/>
            <a:ext cx="2926080" cy="402336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54880" y="1325880"/>
            <a:ext cx="73152" cy="4023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1463040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Filtros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1856232"/>
            <a:ext cx="2606040" cy="3364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producto = SaaS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plan = enterprise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idioma = es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fecha &gt;= 2025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permisos del usuario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8120" y="3291840"/>
            <a:ext cx="7315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86800" y="1325880"/>
            <a:ext cx="2514600" cy="40233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86800" y="1325880"/>
            <a:ext cx="73152" cy="4023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87968" y="14630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Top-k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1856232"/>
            <a:ext cx="2194560" cy="3364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Documentos relevantes y autorizados.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RAG: flujo de alto nivel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Retrieval-Augmented Generation = recuperar evidencia + generar una respuesta.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920240" cy="12344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011679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C"/>
                </a:solidFill>
                <a:latin typeface="Aptos"/>
              </a:rPr>
              <a:t>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04871"/>
            <a:ext cx="160020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pregunta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2487168"/>
            <a:ext cx="29260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1874519"/>
            <a:ext cx="19202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34639" y="1874519"/>
            <a:ext cx="73152" cy="12344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5807" y="2011679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C"/>
                </a:solidFill>
                <a:latin typeface="Aptos"/>
              </a:rPr>
              <a:t>Retriever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7" y="2404871"/>
            <a:ext cx="160020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busca chunks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00599" y="2487168"/>
            <a:ext cx="29260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59" y="1874519"/>
            <a:ext cx="1920240" cy="1234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66359" y="1874519"/>
            <a:ext cx="73152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67527" y="2011679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C"/>
                </a:solidFill>
                <a:latin typeface="Aptos"/>
              </a:rPr>
              <a:t>Contexto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7" y="2404871"/>
            <a:ext cx="160020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top-k evidencia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19" y="2487168"/>
            <a:ext cx="29260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79" y="1874519"/>
            <a:ext cx="1920240" cy="12344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1874519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99247" y="2011679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C"/>
                </a:solidFill>
                <a:latin typeface="Aptos"/>
              </a:rPr>
              <a:t>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7" y="2404871"/>
            <a:ext cx="160020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redacta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64039" y="2487168"/>
            <a:ext cx="292608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29800" y="1874519"/>
            <a:ext cx="1920240" cy="12344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29800" y="1874519"/>
            <a:ext cx="73152" cy="1234440"/>
          </a:xfrm>
          <a:prstGeom prst="rect">
            <a:avLst/>
          </a:prstGeom>
          <a:solidFill>
            <a:srgbClr val="12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30968" y="2011679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233C"/>
                </a:solidFill>
                <a:latin typeface="Aptos"/>
              </a:rPr>
              <a:t>Respuesta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8" y="2404871"/>
            <a:ext cx="1600200" cy="576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con citas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4160520"/>
            <a:ext cx="10012680" cy="109728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60120" y="416052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61288" y="429768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Contrato del prompt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1288" y="4690872"/>
            <a:ext cx="96926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475569"/>
                </a:solidFill>
                <a:latin typeface="Aptos"/>
              </a:defRPr>
            </a:pPr>
            <a:r>
              <a:t>Responde usando solo el contexto proporcionado. Si la evidencia no alcanza, di qué falta en lugar de inventar.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Arquitectura RAG: indexación vs consulta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Dos rutas separadas comparten el mismo modelo de embedding.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5029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2233C"/>
                </a:solidFill>
                <a:latin typeface="Aptos"/>
              </a:rPr>
              <a:t>Ruta offline: preparar conocimiento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1600200" cy="7315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73152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7373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Docs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196596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63240" y="1600200"/>
            <a:ext cx="160020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63240" y="160020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64408" y="17373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Chunks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0" y="196596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03520" y="1600200"/>
            <a:ext cx="1600200" cy="7315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0" y="1600200"/>
            <a:ext cx="73152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04688" y="173736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Vectores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95160" y="196596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43800" y="1600200"/>
            <a:ext cx="2743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43800" y="1600200"/>
            <a:ext cx="73152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44968" y="1737360"/>
            <a:ext cx="2423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Vector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8" y="2130552"/>
            <a:ext cx="2423160" cy="73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índice + metadatos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246120"/>
            <a:ext cx="5029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2233C"/>
                </a:solidFill>
                <a:latin typeface="Aptos"/>
              </a:rPr>
              <a:t>Ruta online: responder preguntas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703320"/>
            <a:ext cx="160020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" y="3703320"/>
            <a:ext cx="73152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" y="38404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Pregunta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14600" y="406908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063240" y="3703320"/>
            <a:ext cx="1600200" cy="7315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63240" y="3703320"/>
            <a:ext cx="73152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64408" y="38404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Embed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54880" y="406908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303520" y="3703320"/>
            <a:ext cx="160020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03520" y="3703320"/>
            <a:ext cx="73152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04688" y="38404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Buscar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995160" y="406908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543800" y="3703320"/>
            <a:ext cx="1600200" cy="7315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543800" y="3703320"/>
            <a:ext cx="73152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44968" y="38404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Prompt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235440" y="406908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784080" y="3703320"/>
            <a:ext cx="160020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784080" y="3703320"/>
            <a:ext cx="73152" cy="731520"/>
          </a:xfrm>
          <a:prstGeom prst="rect">
            <a:avLst/>
          </a:prstGeom>
          <a:solidFill>
            <a:srgbClr val="12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985248" y="384048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Respuesta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Ejemplo: mini corpus de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Pregunta: “¿cómo sabe RAG qué fragmentos mandar al LLM?”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520440" cy="43891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73152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3716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64792"/>
            <a:ext cx="3200400" cy="3730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A. Embeddings convierten texto en vectores.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B. Un índice ANN recupera vecinos cercanos.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C. El prompt debe incluir instrucciones y evidencia.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D. La temperatura controla aleatoriedad.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234440"/>
            <a:ext cx="2834640" cy="43891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234440"/>
            <a:ext cx="73152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371600"/>
            <a:ext cx="2514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Retriever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764792"/>
            <a:ext cx="2514600" cy="3730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embedding(pregunta)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cos(q, A)=0.82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cos(q, B)=0.79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cos(q, C)=0.55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cos(q, D)=0.12</a:t>
            </a:r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Top-k = A,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234440"/>
            <a:ext cx="3794760" cy="4389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89520" y="1234440"/>
            <a:ext cx="73152" cy="4389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90688" y="137160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Respuesta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1764792"/>
            <a:ext cx="3474720" cy="3730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RAG calcula un embedding de la pregunta y busca los chunks con vectores más similares. En este caso enviaría A y B al LLM, porque explican embeddings e índices de vecinos cercanos.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Del retrieval al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El contexto recuperado debe entrar con estructura y límites claros.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257800" cy="4434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73152" cy="4434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46304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Plantilla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56232"/>
            <a:ext cx="4937760" cy="3776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Sistema: responde con base en el contexto.</a:t>
            </a:r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Si falta evidencia, dilo.</a:t>
            </a:r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Contexto:</a:t>
            </a:r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[1] Embeddings convierten texto en vectores...</a:t>
            </a:r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[2] El índice ANN recupera vecinos cercanos...</a:t>
            </a:r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200">
                <a:solidFill>
                  <a:srgbClr val="475569"/>
                </a:solidFill>
                <a:latin typeface="Aptos"/>
              </a:defRPr>
            </a:pPr>
            <a:r>
              <a:t>Pregunta: ¿cómo sabe RAG qué fragmentos mandar al LLM?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25880"/>
            <a:ext cx="4572000" cy="4434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325880"/>
            <a:ext cx="73152" cy="4434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146304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33C"/>
                </a:solidFill>
                <a:latin typeface="Aptos"/>
              </a:rPr>
              <a:t>Buenas prácticas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856232"/>
            <a:ext cx="4251960" cy="3776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Separar instrucciones, contexto y pregunta.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Incluir IDs para citas.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Limitar cantidad de chunks para no saturar la ventana.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endParaRPr/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Pedir abstención cuando no haya evidencia.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Patrones de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El RAG básico se puede mejorar por etapas.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43000"/>
            <a:ext cx="10287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143000"/>
            <a:ext cx="73152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128016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Naive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673352"/>
            <a:ext cx="996696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Embed query → top-k → prompt. Bueno para empezar.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11680"/>
            <a:ext cx="10287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2011680"/>
            <a:ext cx="73152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214884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Hybrid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542032"/>
            <a:ext cx="996696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Combina BM25 por palabras clave con vectores por significado.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880360"/>
            <a:ext cx="10287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" y="2880360"/>
            <a:ext cx="73152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301752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Reranking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410712"/>
            <a:ext cx="996696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Un segundo modelo reordena candidatos antes del prompt.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49039"/>
            <a:ext cx="10287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" y="3749039"/>
            <a:ext cx="73152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3886199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Multi-query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279391"/>
            <a:ext cx="996696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Reescribe la pregunta en varias consultas para recuperar mejor.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617720"/>
            <a:ext cx="102870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" y="4617720"/>
            <a:ext cx="73152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" y="4754880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33C"/>
                </a:solidFill>
                <a:latin typeface="Aptos"/>
              </a:rPr>
              <a:t>Agentic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148072"/>
            <a:ext cx="9966960" cy="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  <a:latin typeface="Aptos"/>
              </a:defRPr>
            </a:pPr>
            <a:r>
              <a:t>El sistema decide buscar, refinar, llamar herramientas o responder.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Evaluar un sistema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No basta con “se ve bien”: separa recuperación y generación.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246120" cy="4297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463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56232"/>
            <a:ext cx="2926080" cy="3639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Recall@k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Precision@k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MRR / nDCG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Cobertura por tema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Latencia de búsqueda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246120" cy="42976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73152" cy="4297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463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Respuesta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856232"/>
            <a:ext cx="2926080" cy="3639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Factualidad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Uso de citas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Completitud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Claridad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Abstención correcta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246120" cy="429768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325880"/>
            <a:ext cx="73152" cy="4297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463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33C"/>
                </a:solidFill>
                <a:latin typeface="Aptos"/>
              </a:rPr>
              <a:t>Sistema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856232"/>
            <a:ext cx="2926080" cy="3639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Costo por pregunta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Tiempo total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Errores por permisos</a:t>
            </a:r>
          </a:p>
          <a:p>
            <a:pPr>
              <a:spcAft>
                <a:spcPts val="3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Robustez ante preguntas ambiguas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Fallas comunes y 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Cuando RAG responde mal, ubica dónde se rompió la cadena.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4572000" cy="603504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234440"/>
            <a:ext cx="73152" cy="6035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37160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No recupera evidencia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77840" y="1536192"/>
            <a:ext cx="59436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09360" y="1234440"/>
            <a:ext cx="4800600" cy="60350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73152" cy="6035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37160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chunking, filtros, embedding, índice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057400"/>
            <a:ext cx="4572000" cy="603504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2057400"/>
            <a:ext cx="73152" cy="6035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219456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Recupera ruido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577840" y="2359152"/>
            <a:ext cx="59436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09360" y="2057400"/>
            <a:ext cx="4800600" cy="60350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057400"/>
            <a:ext cx="73152" cy="6035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219456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top-k alto, chunks grandes, falta reranker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880360"/>
            <a:ext cx="4572000" cy="603504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" y="2880360"/>
            <a:ext cx="73152" cy="6035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8" y="301752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Ignora el contexto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77840" y="3182112"/>
            <a:ext cx="59436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9360" y="2880360"/>
            <a:ext cx="4800600" cy="60350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09360" y="2880360"/>
            <a:ext cx="73152" cy="6035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8" y="301752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prompt débil, contexto muy largo, instrucciones en conflicto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703320"/>
            <a:ext cx="4572000" cy="603504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" y="3703320"/>
            <a:ext cx="73152" cy="6035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4128" y="384048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Alucina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577840" y="4005072"/>
            <a:ext cx="59436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309360" y="3703320"/>
            <a:ext cx="4800600" cy="60350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703320"/>
            <a:ext cx="73152" cy="6035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384048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no hay regla de abstención, falta cita, temperatura alta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526280"/>
            <a:ext cx="4572000" cy="603504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" y="4526280"/>
            <a:ext cx="73152" cy="6035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4128" y="4663440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Filtra información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577840" y="4828032"/>
            <a:ext cx="59436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309360" y="4526280"/>
            <a:ext cx="4800600" cy="603504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309360" y="4526280"/>
            <a:ext cx="73152" cy="6035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10528" y="466344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2233C"/>
                </a:solidFill>
                <a:latin typeface="Aptos"/>
              </a:rPr>
              <a:t>metadatos/permisos mal aplicados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Diseño responsable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RAG introduce decisiones de producto, seguridad y mantenimiento.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RAG | Embeddings, bases vectoriales y sistemas de recuperación aumentada |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Control de acceso: el retrieval debe respetar permisos antes de construir el prompt.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Trazabilidad: guarda pregunta, chunks, scores, prompt y respuesta para depurar.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Actualización: reindexa documentos cuando cambia el corpus o el modelo de embedding.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Privacidad: evita enviar datos sensibles a proveedores externos sin autorización.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Aptos"/>
              </a:defRPr>
            </a:pPr>
            <a:r>
              <a:t>Experiencia: muestra citas, fecha de fuente y nivel de confianza cuando sea útil.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33C"/>
                </a:solidFill>
                <a:latin typeface="Aptos"/>
              </a:rPr>
              <a:t>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La idea completa en cinco frases.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0552" y="6419088"/>
            <a:ext cx="3996608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 dirty="0">
                <a:solidFill>
                  <a:srgbClr val="64748B"/>
                </a:solidFill>
                <a:latin typeface="Aptos"/>
              </a:rPr>
              <a:t>RAG | Embeddings, bases </a:t>
            </a:r>
            <a:r>
              <a:rPr sz="850" b="0" dirty="0" err="1">
                <a:solidFill>
                  <a:srgbClr val="64748B"/>
                </a:solidFill>
                <a:latin typeface="Aptos"/>
              </a:rPr>
              <a:t>vectoriales</a:t>
            </a:r>
            <a:r>
              <a:rPr sz="850" b="0" dirty="0">
                <a:solidFill>
                  <a:srgbClr val="64748B"/>
                </a:solidFill>
                <a:latin typeface="Aptos"/>
              </a:rPr>
              <a:t> y </a:t>
            </a:r>
            <a:r>
              <a:rPr sz="850" b="0" dirty="0" err="1">
                <a:solidFill>
                  <a:srgbClr val="64748B"/>
                </a:solidFill>
                <a:latin typeface="Aptos"/>
              </a:rPr>
              <a:t>sistemas</a:t>
            </a:r>
            <a:r>
              <a:rPr sz="850" b="0" dirty="0">
                <a:solidFill>
                  <a:srgbClr val="64748B"/>
                </a:solidFill>
                <a:latin typeface="Aptos"/>
              </a:rPr>
              <a:t> de </a:t>
            </a:r>
            <a:r>
              <a:rPr sz="850" b="0" dirty="0" err="1">
                <a:solidFill>
                  <a:srgbClr val="64748B"/>
                </a:solidFill>
                <a:latin typeface="Aptos"/>
              </a:rPr>
              <a:t>recuperación</a:t>
            </a:r>
            <a:r>
              <a:rPr sz="850" b="0" dirty="0">
                <a:solidFill>
                  <a:srgbClr val="64748B"/>
                </a:solidFill>
                <a:latin typeface="Aptos"/>
              </a:rPr>
              <a:t> </a:t>
            </a:r>
            <a:r>
              <a:rPr sz="850" b="0" dirty="0" err="1">
                <a:solidFill>
                  <a:srgbClr val="64748B"/>
                </a:solidFill>
                <a:latin typeface="Aptos"/>
              </a:rPr>
              <a:t>aumentada</a:t>
            </a:r>
            <a:r>
              <a:rPr sz="850" b="0" dirty="0">
                <a:solidFill>
                  <a:srgbClr val="64748B"/>
                </a:solidFill>
                <a:latin typeface="Aptos"/>
              </a:rPr>
              <a:t> | 2</a:t>
            </a:r>
            <a:r>
              <a:rPr lang="es-419" sz="850" b="0" dirty="0">
                <a:solidFill>
                  <a:srgbClr val="64748B"/>
                </a:solidFill>
                <a:latin typeface="Aptos"/>
              </a:rPr>
              <a:t>0</a:t>
            </a:r>
            <a:endParaRPr sz="850" b="0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0F172A"/>
                </a:solidFill>
                <a:latin typeface="Aptos"/>
              </a:defRPr>
            </a:pPr>
            <a:r>
              <a:t>Un embedding transforma contenido en una coordenada semántica.</a:t>
            </a:r>
          </a:p>
          <a:p>
            <a:pPr>
              <a:spcAft>
                <a:spcPts val="800"/>
              </a:spcAft>
              <a:defRPr sz="2300">
                <a:solidFill>
                  <a:srgbClr val="0F172A"/>
                </a:solidFill>
                <a:latin typeface="Aptos"/>
              </a:defRPr>
            </a:pPr>
            <a:r>
              <a:t>Una base vectorial permite recuperar vecinos cercanos con sus metadatos.</a:t>
            </a:r>
          </a:p>
          <a:p>
            <a:pPr>
              <a:spcAft>
                <a:spcPts val="800"/>
              </a:spcAft>
              <a:defRPr sz="2300">
                <a:solidFill>
                  <a:srgbClr val="0F172A"/>
                </a:solidFill>
                <a:latin typeface="Aptos"/>
              </a:defRPr>
            </a:pPr>
            <a:r>
              <a:t>RAG usa retrieval para darle evidencia externa a un LLM.</a:t>
            </a:r>
          </a:p>
          <a:p>
            <a:pPr>
              <a:spcAft>
                <a:spcPts val="800"/>
              </a:spcAft>
              <a:defRPr sz="2300">
                <a:solidFill>
                  <a:srgbClr val="0F172A"/>
                </a:solidFill>
                <a:latin typeface="Aptos"/>
              </a:defRPr>
            </a:pPr>
            <a:r>
              <a:t>La calidad depende de chunking, embeddings, filtros, ranking, prompt y evaluación.</a:t>
            </a:r>
          </a:p>
          <a:p>
            <a:pPr>
              <a:spcAft>
                <a:spcPts val="800"/>
              </a:spcAft>
              <a:defRPr sz="2300">
                <a:solidFill>
                  <a:srgbClr val="0F172A"/>
                </a:solidFill>
                <a:latin typeface="Aptos"/>
              </a:defRPr>
            </a:pPr>
            <a:r>
              <a:t>Un buen RAG responde mejor cuando tiene evidencia y se abstiene cuando no la tiene.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1662</Words>
  <Application>Microsoft Macintosh PowerPoint</Application>
  <PresentationFormat>Panorámica</PresentationFormat>
  <Paragraphs>277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Víctor Uc Cetina</cp:lastModifiedBy>
  <cp:revision>4</cp:revision>
  <dcterms:created xsi:type="dcterms:W3CDTF">2013-01-27T09:14:16Z</dcterms:created>
  <dcterms:modified xsi:type="dcterms:W3CDTF">2026-09-11T17:24:27Z</dcterms:modified>
  <cp:category/>
</cp:coreProperties>
</file>